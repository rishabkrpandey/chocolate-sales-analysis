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rittany" charset="1" panose="00000000000000000000"/>
      <p:regular r:id="rId15"/>
    </p:embeddedFont>
    <p:embeddedFont>
      <p:font typeface="Poppins" charset="1" panose="00000500000000000000"/>
      <p:regular r:id="rId16"/>
    </p:embeddedFont>
    <p:embeddedFont>
      <p:font typeface="Poppins Bold" charset="1" panose="00000800000000000000"/>
      <p:regular r:id="rId17"/>
    </p:embeddedFont>
    <p:embeddedFont>
      <p:font typeface="Poppins Italic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kaggle.com/datasets/saidaminsaidaxmadov/chocolate-sales?select=Chocolate+Sales+%282%29.csv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6972300"/>
            <a:ext cx="16230600" cy="162306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7C381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162306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7C381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9525" cap="sq">
              <a:solidFill>
                <a:srgbClr val="7C381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284665" y="4198193"/>
            <a:ext cx="971867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7C381D"/>
                </a:solidFill>
                <a:latin typeface="Brittany"/>
                <a:ea typeface="Brittany"/>
                <a:cs typeface="Brittany"/>
                <a:sym typeface="Brittany"/>
              </a:rPr>
              <a:t>Ch</a:t>
            </a:r>
            <a:r>
              <a:rPr lang="en-US" sz="5000">
                <a:solidFill>
                  <a:srgbClr val="7C381D"/>
                </a:solidFill>
                <a:latin typeface="Brittany"/>
                <a:ea typeface="Brittany"/>
                <a:cs typeface="Brittany"/>
                <a:sym typeface="Brittany"/>
              </a:rPr>
              <a:t>ocolate  Sales Performance Analysis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924771" y="809471"/>
            <a:ext cx="438458" cy="43845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09471" y="9039071"/>
            <a:ext cx="438458" cy="43845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09471" y="809471"/>
            <a:ext cx="438458" cy="43845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040071" y="809471"/>
            <a:ext cx="438458" cy="43845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924771" y="9039071"/>
            <a:ext cx="438458" cy="438458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040071" y="9039071"/>
            <a:ext cx="438458" cy="438458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5246538" y="5585252"/>
            <a:ext cx="7794925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Insights &amp; Recommendations for Business Growth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2971800"/>
            <a:ext cx="16230600" cy="162306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7C381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9525" cap="sq">
              <a:solidFill>
                <a:srgbClr val="7C381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24771" y="809471"/>
            <a:ext cx="438458" cy="43845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09471" y="9039071"/>
            <a:ext cx="438458" cy="43845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9471" y="809471"/>
            <a:ext cx="438458" cy="43845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040071" y="809471"/>
            <a:ext cx="438458" cy="43845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24771" y="9039071"/>
            <a:ext cx="438458" cy="43845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040071" y="9039071"/>
            <a:ext cx="438458" cy="43845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056216" y="1943143"/>
            <a:ext cx="5078564" cy="279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7C381D"/>
                </a:solidFill>
                <a:latin typeface="Brittany"/>
                <a:ea typeface="Brittany"/>
                <a:cs typeface="Brittany"/>
                <a:sym typeface="Brittany"/>
              </a:rPr>
              <a:t>Executive Summ</a:t>
            </a:r>
            <a:r>
              <a:rPr lang="en-US" sz="8000">
                <a:solidFill>
                  <a:srgbClr val="7C381D"/>
                </a:solidFill>
                <a:latin typeface="Brittany"/>
                <a:ea typeface="Brittany"/>
                <a:cs typeface="Brittany"/>
                <a:sym typeface="Brittany"/>
              </a:rPr>
              <a:t>ary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34780" y="2479675"/>
            <a:ext cx="9217198" cy="548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Goal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: Analyze sales data to identify top r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evenue drivers and optimization opportunities.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Key Finding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: The product portfolio is robust, with "Smooth Sliky Salty" leading as the #1 revenue generator (~$1.1M).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Pareto Insight: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Revenue is well-distributed; unlike a strict 80/20 split, we have a broad range of high-performing products (top 13 products contribute ~50% of revenue).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Action: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Inventory should prioritize the top 5 "A-List" products to prevent stockouts.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1848619" y="5622251"/>
            <a:ext cx="4227884" cy="569934"/>
            <a:chOff x="0" y="0"/>
            <a:chExt cx="1113517" cy="1501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13517" cy="150106"/>
            </a:xfrm>
            <a:custGeom>
              <a:avLst/>
              <a:gdLst/>
              <a:ahLst/>
              <a:cxnLst/>
              <a:rect r="r" b="b" t="t" l="l"/>
              <a:pathLst>
                <a:path h="150106" w="1113517">
                  <a:moveTo>
                    <a:pt x="75053" y="0"/>
                  </a:moveTo>
                  <a:lnTo>
                    <a:pt x="1038464" y="0"/>
                  </a:lnTo>
                  <a:cubicBezTo>
                    <a:pt x="1079914" y="0"/>
                    <a:pt x="1113517" y="33602"/>
                    <a:pt x="1113517" y="75053"/>
                  </a:cubicBezTo>
                  <a:lnTo>
                    <a:pt x="1113517" y="75053"/>
                  </a:lnTo>
                  <a:cubicBezTo>
                    <a:pt x="1113517" y="116504"/>
                    <a:pt x="1079914" y="150106"/>
                    <a:pt x="1038464" y="150106"/>
                  </a:cubicBezTo>
                  <a:lnTo>
                    <a:pt x="75053" y="150106"/>
                  </a:lnTo>
                  <a:cubicBezTo>
                    <a:pt x="33602" y="150106"/>
                    <a:pt x="0" y="116504"/>
                    <a:pt x="0" y="75053"/>
                  </a:cubicBezTo>
                  <a:lnTo>
                    <a:pt x="0" y="75053"/>
                  </a:lnTo>
                  <a:cubicBezTo>
                    <a:pt x="0" y="33602"/>
                    <a:pt x="33602" y="0"/>
                    <a:pt x="75053" y="0"/>
                  </a:cubicBezTo>
                  <a:close/>
                </a:path>
              </a:pathLst>
            </a:custGeom>
            <a:solidFill>
              <a:srgbClr val="EFE2D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113517" cy="188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2971800"/>
            <a:ext cx="16230600" cy="162306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7C381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9525" cap="sq">
              <a:solidFill>
                <a:srgbClr val="7C381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24771" y="809471"/>
            <a:ext cx="438458" cy="43845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09471" y="9039071"/>
            <a:ext cx="438458" cy="43845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9471" y="809471"/>
            <a:ext cx="438458" cy="43845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040071" y="809471"/>
            <a:ext cx="438458" cy="43845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24771" y="9039071"/>
            <a:ext cx="438458" cy="43845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040071" y="9039071"/>
            <a:ext cx="438458" cy="43845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056216" y="1676443"/>
            <a:ext cx="5078564" cy="3413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8000">
                <a:solidFill>
                  <a:srgbClr val="7C381D"/>
                </a:solidFill>
                <a:latin typeface="Brittany"/>
                <a:ea typeface="Brittany"/>
                <a:cs typeface="Brittany"/>
                <a:sym typeface="Brittany"/>
              </a:rPr>
              <a:t>Data Methodolog</a:t>
            </a:r>
            <a:r>
              <a:rPr lang="en-US" sz="8000">
                <a:solidFill>
                  <a:srgbClr val="7C381D"/>
                </a:solidFill>
                <a:latin typeface="Brittany"/>
                <a:ea typeface="Brittany"/>
                <a:cs typeface="Brittany"/>
                <a:sym typeface="Brittany"/>
              </a:rPr>
              <a:t>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34780" y="2863891"/>
            <a:ext cx="9217198" cy="5029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 b="true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u="sng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  <a:hlinkClick r:id="rId2" tooltip="https://www.kaggle.com/datasets/saidaminsaidaxmadov/chocolate-sales?select=Chocolate+Sales+%282%29.csv"/>
              </a:rPr>
              <a:t>Chocolate Sales (2).csv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 Perform</a:t>
            </a: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ed: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Removed currency symbols ($) and commas from the Amount column.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Converted sales figures to numeric format for calculation.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Parsed dates to analyze monthly trends.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Key Metrics Analyzed: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Total Revenue, Sales by Product, Cumulative Percentage (Pareto), and Geographic spread.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1848619" y="5622251"/>
            <a:ext cx="4227884" cy="569934"/>
            <a:chOff x="0" y="0"/>
            <a:chExt cx="1113517" cy="1501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13517" cy="150106"/>
            </a:xfrm>
            <a:custGeom>
              <a:avLst/>
              <a:gdLst/>
              <a:ahLst/>
              <a:cxnLst/>
              <a:rect r="r" b="b" t="t" l="l"/>
              <a:pathLst>
                <a:path h="150106" w="1113517">
                  <a:moveTo>
                    <a:pt x="75053" y="0"/>
                  </a:moveTo>
                  <a:lnTo>
                    <a:pt x="1038464" y="0"/>
                  </a:lnTo>
                  <a:cubicBezTo>
                    <a:pt x="1079914" y="0"/>
                    <a:pt x="1113517" y="33602"/>
                    <a:pt x="1113517" y="75053"/>
                  </a:cubicBezTo>
                  <a:lnTo>
                    <a:pt x="1113517" y="75053"/>
                  </a:lnTo>
                  <a:cubicBezTo>
                    <a:pt x="1113517" y="116504"/>
                    <a:pt x="1079914" y="150106"/>
                    <a:pt x="1038464" y="150106"/>
                  </a:cubicBezTo>
                  <a:lnTo>
                    <a:pt x="75053" y="150106"/>
                  </a:lnTo>
                  <a:cubicBezTo>
                    <a:pt x="33602" y="150106"/>
                    <a:pt x="0" y="116504"/>
                    <a:pt x="0" y="75053"/>
                  </a:cubicBezTo>
                  <a:lnTo>
                    <a:pt x="0" y="75053"/>
                  </a:lnTo>
                  <a:cubicBezTo>
                    <a:pt x="0" y="33602"/>
                    <a:pt x="33602" y="0"/>
                    <a:pt x="75053" y="0"/>
                  </a:cubicBezTo>
                  <a:close/>
                </a:path>
              </a:pathLst>
            </a:custGeom>
            <a:solidFill>
              <a:srgbClr val="EFE2D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113517" cy="188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2971800"/>
            <a:ext cx="16230600" cy="162306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7C381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9525" cap="sq">
              <a:solidFill>
                <a:srgbClr val="7C381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24771" y="809471"/>
            <a:ext cx="438458" cy="43845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09471" y="9039071"/>
            <a:ext cx="438458" cy="43845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9471" y="809471"/>
            <a:ext cx="438458" cy="43845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040071" y="809471"/>
            <a:ext cx="438458" cy="43845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24771" y="9039071"/>
            <a:ext cx="438458" cy="43845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040071" y="9039071"/>
            <a:ext cx="438458" cy="43845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057792" y="2962317"/>
            <a:ext cx="4570573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0"/>
              </a:lnSpc>
            </a:pPr>
            <a:r>
              <a:rPr lang="en-US" sz="5000">
                <a:solidFill>
                  <a:srgbClr val="7C381D"/>
                </a:solidFill>
                <a:latin typeface="Brittany"/>
                <a:ea typeface="Brittany"/>
                <a:cs typeface="Brittany"/>
                <a:sym typeface="Brittany"/>
              </a:rPr>
              <a:t>Top 3 "Cash Cow" Products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49688" y="2074586"/>
            <a:ext cx="9217198" cy="5963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These t</a:t>
            </a:r>
            <a:r>
              <a:rPr lang="en-US" sz="2599" u="none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ree pr</a:t>
            </a:r>
            <a:r>
              <a:rPr lang="en-US" sz="2599" u="none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du</a:t>
            </a:r>
            <a:r>
              <a:rPr lang="en-US" sz="2599" u="none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ct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599" u="none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al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on</a:t>
            </a:r>
            <a:r>
              <a:rPr lang="en-US" sz="2599" u="none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generat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e over </a:t>
            </a:r>
            <a:r>
              <a:rPr lang="en-US" sz="2599" i="true">
                <a:solidFill>
                  <a:srgbClr val="7C381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$3.2 Million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in revenue.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AutoNum type="arabicPeriod" startAt="1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Sm</a:t>
            </a: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ooth Sliky Salty</a:t>
            </a:r>
          </a:p>
          <a:p>
            <a:pPr algn="just" marL="1122671" indent="-374224" lvl="2">
              <a:lnSpc>
                <a:spcPts val="363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~$1.12 Million</a:t>
            </a:r>
          </a:p>
          <a:p>
            <a:pPr algn="just" marL="1165850" indent="-388617" lvl="2">
              <a:lnSpc>
                <a:spcPts val="377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6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Sh</a:t>
            </a:r>
            <a:r>
              <a:rPr lang="en-US" b="true" sz="26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are:</a:t>
            </a:r>
            <a:r>
              <a:rPr lang="en-US" sz="26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~5.6% of total sales alone.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AutoNum type="arabicPeriod" startAt="1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50% Dark Bites</a:t>
            </a:r>
          </a:p>
          <a:p>
            <a:pPr algn="just" marL="1122671" indent="-374224" lvl="2">
              <a:lnSpc>
                <a:spcPts val="363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Revenu</a:t>
            </a: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e: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~$1.08 Million</a:t>
            </a:r>
          </a:p>
          <a:p>
            <a:pPr algn="just" marL="1122671" indent="-374224" lvl="2">
              <a:lnSpc>
                <a:spcPts val="363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Share: 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Strong second performer.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AutoNum type="arabicPeriod" startAt="1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White Choc</a:t>
            </a:r>
          </a:p>
          <a:p>
            <a:pPr algn="just" marL="1122671" indent="-374224" lvl="2">
              <a:lnSpc>
                <a:spcPts val="363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~$1.05 Million</a:t>
            </a:r>
          </a:p>
          <a:p>
            <a:pPr algn="just" marL="1122671" indent="-374224" lvl="2">
              <a:lnSpc>
                <a:spcPts val="363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White chocolate is a surprisingly strong contender, outperforming many dark varieties.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1848619" y="5622251"/>
            <a:ext cx="4227884" cy="569934"/>
            <a:chOff x="0" y="0"/>
            <a:chExt cx="1113517" cy="1501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13517" cy="150106"/>
            </a:xfrm>
            <a:custGeom>
              <a:avLst/>
              <a:gdLst/>
              <a:ahLst/>
              <a:cxnLst/>
              <a:rect r="r" b="b" t="t" l="l"/>
              <a:pathLst>
                <a:path h="150106" w="1113517">
                  <a:moveTo>
                    <a:pt x="75053" y="0"/>
                  </a:moveTo>
                  <a:lnTo>
                    <a:pt x="1038464" y="0"/>
                  </a:lnTo>
                  <a:cubicBezTo>
                    <a:pt x="1079914" y="0"/>
                    <a:pt x="1113517" y="33602"/>
                    <a:pt x="1113517" y="75053"/>
                  </a:cubicBezTo>
                  <a:lnTo>
                    <a:pt x="1113517" y="75053"/>
                  </a:lnTo>
                  <a:cubicBezTo>
                    <a:pt x="1113517" y="116504"/>
                    <a:pt x="1079914" y="150106"/>
                    <a:pt x="1038464" y="150106"/>
                  </a:cubicBezTo>
                  <a:lnTo>
                    <a:pt x="75053" y="150106"/>
                  </a:lnTo>
                  <a:cubicBezTo>
                    <a:pt x="33602" y="150106"/>
                    <a:pt x="0" y="116504"/>
                    <a:pt x="0" y="75053"/>
                  </a:cubicBezTo>
                  <a:lnTo>
                    <a:pt x="0" y="75053"/>
                  </a:lnTo>
                  <a:cubicBezTo>
                    <a:pt x="0" y="33602"/>
                    <a:pt x="33602" y="0"/>
                    <a:pt x="75053" y="0"/>
                  </a:cubicBezTo>
                  <a:close/>
                </a:path>
              </a:pathLst>
            </a:custGeom>
            <a:solidFill>
              <a:srgbClr val="EFE2D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113517" cy="188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2971800"/>
            <a:ext cx="16230600" cy="162306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7C381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9525" cap="sq">
              <a:solidFill>
                <a:srgbClr val="7C381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24771" y="809471"/>
            <a:ext cx="438458" cy="43845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09471" y="9039071"/>
            <a:ext cx="438458" cy="43845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9471" y="809471"/>
            <a:ext cx="438458" cy="43845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040071" y="809471"/>
            <a:ext cx="438458" cy="43845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24771" y="9039071"/>
            <a:ext cx="438458" cy="43845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040071" y="9039071"/>
            <a:ext cx="438458" cy="43845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057792" y="2962317"/>
            <a:ext cx="4570573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0"/>
              </a:lnSpc>
            </a:pPr>
            <a:r>
              <a:rPr lang="en-US" sz="5000">
                <a:solidFill>
                  <a:srgbClr val="7C381D"/>
                </a:solidFill>
                <a:latin typeface="Brittany"/>
                <a:ea typeface="Brittany"/>
                <a:cs typeface="Brittany"/>
                <a:sym typeface="Brittany"/>
              </a:rPr>
              <a:t>The "Vital Few" </a:t>
            </a:r>
          </a:p>
          <a:p>
            <a:pPr algn="l">
              <a:lnSpc>
                <a:spcPts val="8750"/>
              </a:lnSpc>
            </a:pPr>
            <a:r>
              <a:rPr lang="en-US" sz="5000">
                <a:solidFill>
                  <a:srgbClr val="7C381D"/>
                </a:solidFill>
                <a:latin typeface="Brittany"/>
                <a:ea typeface="Brittany"/>
                <a:cs typeface="Brittany"/>
                <a:sym typeface="Brittany"/>
              </a:rPr>
              <a:t>( Pareto Analysis)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49688" y="2074586"/>
            <a:ext cx="9217198" cy="640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The Insig</a:t>
            </a:r>
            <a:r>
              <a:rPr lang="en-US" b="true" sz="2599" u="none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ht:</a:t>
            </a:r>
            <a:r>
              <a:rPr lang="en-US" sz="2599" u="none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W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e analyzed which pr</a:t>
            </a:r>
            <a:r>
              <a:rPr lang="en-US" sz="2599" u="none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du</a:t>
            </a:r>
            <a:r>
              <a:rPr lang="en-US" sz="2599" u="none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ct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599" u="none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c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ontribut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e to the first 50%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o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f our total revenue.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The List: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Sm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ooth Sliky Salty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50%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Dark Bites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it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Choc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Peanut Butter Cubes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Eclairs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99% Dark &amp; Pure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5% Dark B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ar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Tak</a:t>
            </a: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eaway: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Th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7-10 products 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are 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the core of 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busi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ne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ss. Lo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stock on any of these will significantly impact the bottom line.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1848619" y="5622251"/>
            <a:ext cx="4227884" cy="569934"/>
            <a:chOff x="0" y="0"/>
            <a:chExt cx="1113517" cy="1501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13517" cy="150106"/>
            </a:xfrm>
            <a:custGeom>
              <a:avLst/>
              <a:gdLst/>
              <a:ahLst/>
              <a:cxnLst/>
              <a:rect r="r" b="b" t="t" l="l"/>
              <a:pathLst>
                <a:path h="150106" w="1113517">
                  <a:moveTo>
                    <a:pt x="75053" y="0"/>
                  </a:moveTo>
                  <a:lnTo>
                    <a:pt x="1038464" y="0"/>
                  </a:lnTo>
                  <a:cubicBezTo>
                    <a:pt x="1079914" y="0"/>
                    <a:pt x="1113517" y="33602"/>
                    <a:pt x="1113517" y="75053"/>
                  </a:cubicBezTo>
                  <a:lnTo>
                    <a:pt x="1113517" y="75053"/>
                  </a:lnTo>
                  <a:cubicBezTo>
                    <a:pt x="1113517" y="116504"/>
                    <a:pt x="1079914" y="150106"/>
                    <a:pt x="1038464" y="150106"/>
                  </a:cubicBezTo>
                  <a:lnTo>
                    <a:pt x="75053" y="150106"/>
                  </a:lnTo>
                  <a:cubicBezTo>
                    <a:pt x="33602" y="150106"/>
                    <a:pt x="0" y="116504"/>
                    <a:pt x="0" y="75053"/>
                  </a:cubicBezTo>
                  <a:lnTo>
                    <a:pt x="0" y="75053"/>
                  </a:lnTo>
                  <a:cubicBezTo>
                    <a:pt x="0" y="33602"/>
                    <a:pt x="33602" y="0"/>
                    <a:pt x="75053" y="0"/>
                  </a:cubicBezTo>
                  <a:close/>
                </a:path>
              </a:pathLst>
            </a:custGeom>
            <a:solidFill>
              <a:srgbClr val="EFE2D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113517" cy="188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2971800"/>
            <a:ext cx="16230600" cy="162306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7C381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9525" cap="sq">
              <a:solidFill>
                <a:srgbClr val="7C381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24771" y="809471"/>
            <a:ext cx="438458" cy="43845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09471" y="9039071"/>
            <a:ext cx="438458" cy="43845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9471" y="809471"/>
            <a:ext cx="438458" cy="43845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040071" y="809471"/>
            <a:ext cx="438458" cy="43845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24771" y="9039071"/>
            <a:ext cx="438458" cy="43845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040071" y="9039071"/>
            <a:ext cx="438458" cy="43845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057792" y="2962317"/>
            <a:ext cx="4570573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0"/>
              </a:lnSpc>
            </a:pPr>
            <a:r>
              <a:rPr lang="en-US" sz="5000">
                <a:solidFill>
                  <a:srgbClr val="7C381D"/>
                </a:solidFill>
                <a:latin typeface="Brittany"/>
                <a:ea typeface="Brittany"/>
                <a:cs typeface="Brittany"/>
                <a:sym typeface="Brittany"/>
              </a:rPr>
              <a:t>Product  Category Performance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49688" y="2366645"/>
            <a:ext cx="9217198" cy="548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Dark Chocolate: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Strong</a:t>
            </a:r>
            <a:r>
              <a:rPr lang="en-US" sz="2599" u="none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pres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ence with mul</a:t>
            </a:r>
            <a:r>
              <a:rPr lang="en-US" sz="2599" u="none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tiple e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ntri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es in the top tier (50%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Dark, 99%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Dark, 85% Dark).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Strategy: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Continue to market "Dark" varieties as a premium 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healthy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option.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Specialty Flavors: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Peanut Butter Cubes and Mint Chip Choco are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performing well.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Str</a:t>
            </a: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at</a:t>
            </a: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egy: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Thes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e specific flavors have high loyalty; avoid changing their recipes.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Standard Bars: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Simple bars (like Eclairs) remain steady sellers.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1848619" y="5622251"/>
            <a:ext cx="4227884" cy="569934"/>
            <a:chOff x="0" y="0"/>
            <a:chExt cx="1113517" cy="1501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13517" cy="150106"/>
            </a:xfrm>
            <a:custGeom>
              <a:avLst/>
              <a:gdLst/>
              <a:ahLst/>
              <a:cxnLst/>
              <a:rect r="r" b="b" t="t" l="l"/>
              <a:pathLst>
                <a:path h="150106" w="1113517">
                  <a:moveTo>
                    <a:pt x="75053" y="0"/>
                  </a:moveTo>
                  <a:lnTo>
                    <a:pt x="1038464" y="0"/>
                  </a:lnTo>
                  <a:cubicBezTo>
                    <a:pt x="1079914" y="0"/>
                    <a:pt x="1113517" y="33602"/>
                    <a:pt x="1113517" y="75053"/>
                  </a:cubicBezTo>
                  <a:lnTo>
                    <a:pt x="1113517" y="75053"/>
                  </a:lnTo>
                  <a:cubicBezTo>
                    <a:pt x="1113517" y="116504"/>
                    <a:pt x="1079914" y="150106"/>
                    <a:pt x="1038464" y="150106"/>
                  </a:cubicBezTo>
                  <a:lnTo>
                    <a:pt x="75053" y="150106"/>
                  </a:lnTo>
                  <a:cubicBezTo>
                    <a:pt x="33602" y="150106"/>
                    <a:pt x="0" y="116504"/>
                    <a:pt x="0" y="75053"/>
                  </a:cubicBezTo>
                  <a:lnTo>
                    <a:pt x="0" y="75053"/>
                  </a:lnTo>
                  <a:cubicBezTo>
                    <a:pt x="0" y="33602"/>
                    <a:pt x="33602" y="0"/>
                    <a:pt x="75053" y="0"/>
                  </a:cubicBezTo>
                  <a:close/>
                </a:path>
              </a:pathLst>
            </a:custGeom>
            <a:solidFill>
              <a:srgbClr val="EFE2D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113517" cy="188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2971800"/>
            <a:ext cx="16230600" cy="162306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7C381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9525" cap="sq">
              <a:solidFill>
                <a:srgbClr val="7C381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24771" y="809471"/>
            <a:ext cx="438458" cy="43845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09471" y="9039071"/>
            <a:ext cx="438458" cy="43845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9471" y="809471"/>
            <a:ext cx="438458" cy="43845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040071" y="809471"/>
            <a:ext cx="438458" cy="43845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24771" y="9039071"/>
            <a:ext cx="438458" cy="43845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040071" y="9039071"/>
            <a:ext cx="438458" cy="43845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99616" y="5622251"/>
            <a:ext cx="4227884" cy="569934"/>
            <a:chOff x="0" y="0"/>
            <a:chExt cx="1113517" cy="1501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13517" cy="150106"/>
            </a:xfrm>
            <a:custGeom>
              <a:avLst/>
              <a:gdLst/>
              <a:ahLst/>
              <a:cxnLst/>
              <a:rect r="r" b="b" t="t" l="l"/>
              <a:pathLst>
                <a:path h="150106" w="1113517">
                  <a:moveTo>
                    <a:pt x="75053" y="0"/>
                  </a:moveTo>
                  <a:lnTo>
                    <a:pt x="1038464" y="0"/>
                  </a:lnTo>
                  <a:cubicBezTo>
                    <a:pt x="1079914" y="0"/>
                    <a:pt x="1113517" y="33602"/>
                    <a:pt x="1113517" y="75053"/>
                  </a:cubicBezTo>
                  <a:lnTo>
                    <a:pt x="1113517" y="75053"/>
                  </a:lnTo>
                  <a:cubicBezTo>
                    <a:pt x="1113517" y="116504"/>
                    <a:pt x="1079914" y="150106"/>
                    <a:pt x="1038464" y="150106"/>
                  </a:cubicBezTo>
                  <a:lnTo>
                    <a:pt x="75053" y="150106"/>
                  </a:lnTo>
                  <a:cubicBezTo>
                    <a:pt x="33602" y="150106"/>
                    <a:pt x="0" y="116504"/>
                    <a:pt x="0" y="75053"/>
                  </a:cubicBezTo>
                  <a:lnTo>
                    <a:pt x="0" y="75053"/>
                  </a:lnTo>
                  <a:cubicBezTo>
                    <a:pt x="0" y="33602"/>
                    <a:pt x="33602" y="0"/>
                    <a:pt x="75053" y="0"/>
                  </a:cubicBezTo>
                  <a:close/>
                </a:path>
              </a:pathLst>
            </a:custGeom>
            <a:solidFill>
              <a:srgbClr val="EFE2DC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113517" cy="188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9296941" y="1333654"/>
            <a:ext cx="4736905" cy="4573564"/>
          </a:xfrm>
          <a:custGeom>
            <a:avLst/>
            <a:gdLst/>
            <a:ahLst/>
            <a:cxnLst/>
            <a:rect r="r" b="b" t="t" l="l"/>
            <a:pathLst>
              <a:path h="4573564" w="4736905">
                <a:moveTo>
                  <a:pt x="0" y="0"/>
                </a:moveTo>
                <a:lnTo>
                  <a:pt x="4736906" y="0"/>
                </a:lnTo>
                <a:lnTo>
                  <a:pt x="4736906" y="4573564"/>
                </a:lnTo>
                <a:lnTo>
                  <a:pt x="0" y="45735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699616" y="3016250"/>
            <a:ext cx="5357179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0"/>
              </a:lnSpc>
            </a:pPr>
            <a:r>
              <a:rPr lang="en-US" sz="5000">
                <a:solidFill>
                  <a:srgbClr val="7C381D"/>
                </a:solidFill>
                <a:latin typeface="Brittany"/>
                <a:ea typeface="Brittany"/>
                <a:cs typeface="Brittany"/>
                <a:sym typeface="Brittany"/>
              </a:rPr>
              <a:t>Geographic &amp; Regional Opportunities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56795" y="6125510"/>
            <a:ext cx="9124689" cy="274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Top Region:</a:t>
            </a:r>
            <a:r>
              <a:rPr lang="en-US" b="true" sz="2599" u="none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599" u="none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Australia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Exp</a:t>
            </a: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ansion Target: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UK and India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shows high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demand but low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er volume.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</a:t>
            </a: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ation</a:t>
            </a: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Increas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e marketing spend in the #2 region to capture untapped market share.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2971800"/>
            <a:ext cx="16230600" cy="162306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7C381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9525" cap="sq">
              <a:solidFill>
                <a:srgbClr val="7C381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24771" y="809471"/>
            <a:ext cx="438458" cy="43845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09471" y="9039071"/>
            <a:ext cx="438458" cy="43845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9471" y="809471"/>
            <a:ext cx="438458" cy="43845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040071" y="809471"/>
            <a:ext cx="438458" cy="43845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24771" y="9039071"/>
            <a:ext cx="438458" cy="43845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040071" y="9039071"/>
            <a:ext cx="438458" cy="43845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848619" y="5622251"/>
            <a:ext cx="4227884" cy="569934"/>
            <a:chOff x="0" y="0"/>
            <a:chExt cx="1113517" cy="1501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13517" cy="150106"/>
            </a:xfrm>
            <a:custGeom>
              <a:avLst/>
              <a:gdLst/>
              <a:ahLst/>
              <a:cxnLst/>
              <a:rect r="r" b="b" t="t" l="l"/>
              <a:pathLst>
                <a:path h="150106" w="1113517">
                  <a:moveTo>
                    <a:pt x="75053" y="0"/>
                  </a:moveTo>
                  <a:lnTo>
                    <a:pt x="1038464" y="0"/>
                  </a:lnTo>
                  <a:cubicBezTo>
                    <a:pt x="1079914" y="0"/>
                    <a:pt x="1113517" y="33602"/>
                    <a:pt x="1113517" y="75053"/>
                  </a:cubicBezTo>
                  <a:lnTo>
                    <a:pt x="1113517" y="75053"/>
                  </a:lnTo>
                  <a:cubicBezTo>
                    <a:pt x="1113517" y="116504"/>
                    <a:pt x="1079914" y="150106"/>
                    <a:pt x="1038464" y="150106"/>
                  </a:cubicBezTo>
                  <a:lnTo>
                    <a:pt x="75053" y="150106"/>
                  </a:lnTo>
                  <a:cubicBezTo>
                    <a:pt x="33602" y="150106"/>
                    <a:pt x="0" y="116504"/>
                    <a:pt x="0" y="75053"/>
                  </a:cubicBezTo>
                  <a:lnTo>
                    <a:pt x="0" y="75053"/>
                  </a:lnTo>
                  <a:cubicBezTo>
                    <a:pt x="0" y="33602"/>
                    <a:pt x="33602" y="0"/>
                    <a:pt x="75053" y="0"/>
                  </a:cubicBezTo>
                  <a:close/>
                </a:path>
              </a:pathLst>
            </a:custGeom>
            <a:solidFill>
              <a:srgbClr val="EFE2DC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113517" cy="188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8896920" y="5143500"/>
            <a:ext cx="6583247" cy="3596099"/>
          </a:xfrm>
          <a:custGeom>
            <a:avLst/>
            <a:gdLst/>
            <a:ahLst/>
            <a:cxnLst/>
            <a:rect r="r" b="b" t="t" l="l"/>
            <a:pathLst>
              <a:path h="3596099" w="6583247">
                <a:moveTo>
                  <a:pt x="0" y="0"/>
                </a:moveTo>
                <a:lnTo>
                  <a:pt x="6583247" y="0"/>
                </a:lnTo>
                <a:lnTo>
                  <a:pt x="6583247" y="3596099"/>
                </a:lnTo>
                <a:lnTo>
                  <a:pt x="0" y="35960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458773" y="3888082"/>
            <a:ext cx="5007576" cy="102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0"/>
              </a:lnSpc>
            </a:pPr>
            <a:r>
              <a:rPr lang="en-US" sz="5000">
                <a:solidFill>
                  <a:srgbClr val="7C381D"/>
                </a:solidFill>
                <a:latin typeface="Brittany"/>
                <a:ea typeface="Brittany"/>
                <a:cs typeface="Brittany"/>
                <a:sym typeface="Brittany"/>
              </a:rPr>
              <a:t>Seasonality &amp; Timing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579944" y="1678698"/>
            <a:ext cx="9217198" cy="365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Peak Months: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Around January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Low S</a:t>
            </a: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eason: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Around September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Str</a:t>
            </a: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at</a:t>
            </a: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egy: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High Season: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Ensur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e 100% stock availability for "Smooth Sliky Salty" and "Dark Bites".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Low</a:t>
            </a: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 Season: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Run promotions on lower-performing items to clear inventory.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2971800"/>
            <a:ext cx="16230600" cy="162306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7C381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9525" cap="sq">
              <a:solidFill>
                <a:srgbClr val="7C381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24771" y="809471"/>
            <a:ext cx="438458" cy="43845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09471" y="9039071"/>
            <a:ext cx="438458" cy="43845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9471" y="809471"/>
            <a:ext cx="438458" cy="43845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040071" y="809471"/>
            <a:ext cx="438458" cy="43845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24771" y="9039071"/>
            <a:ext cx="438458" cy="43845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040071" y="9039071"/>
            <a:ext cx="438458" cy="43845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C381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677275" y="3016250"/>
            <a:ext cx="4570573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0"/>
              </a:lnSpc>
            </a:pPr>
            <a:r>
              <a:rPr lang="en-US" sz="5000">
                <a:solidFill>
                  <a:srgbClr val="7C381D"/>
                </a:solidFill>
                <a:latin typeface="Brittany"/>
                <a:ea typeface="Brittany"/>
                <a:cs typeface="Brittany"/>
                <a:sym typeface="Brittany"/>
              </a:rPr>
              <a:t>Final Recommendations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49688" y="2366645"/>
            <a:ext cx="9217198" cy="5029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Protect the Co</a:t>
            </a:r>
            <a:r>
              <a:rPr lang="en-US" b="true" sz="2599" u="none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re:</a:t>
            </a:r>
            <a:r>
              <a:rPr lang="en-US" sz="2599" u="none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E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nsure </a:t>
            </a:r>
            <a:r>
              <a:rPr lang="en-US" sz="2599" i="true" u="sng">
                <a:solidFill>
                  <a:srgbClr val="7C381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Smooth Sliky Salty</a:t>
            </a:r>
            <a:r>
              <a:rPr lang="en-US" sz="2599" u="none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nd </a:t>
            </a:r>
            <a:r>
              <a:rPr lang="en-US" sz="2599" i="true" u="sng">
                <a:solidFill>
                  <a:srgbClr val="7C381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50% Dark Bit</a:t>
            </a:r>
            <a:r>
              <a:rPr lang="en-US" sz="2599" i="true" u="sng">
                <a:solidFill>
                  <a:srgbClr val="7C381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es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never go out of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stock. They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are the business anchors.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ationalize Inventory: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Review the bottom 20% of products. If t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hey have high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storag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e costs 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and low sales, consider discontinuing them to free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up cash.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Pricing Revi</a:t>
            </a:r>
            <a:r>
              <a:rPr lang="en-US" b="true" sz="2599">
                <a:solidFill>
                  <a:srgbClr val="7C381D"/>
                </a:solidFill>
                <a:latin typeface="Poppins Bold"/>
                <a:ea typeface="Poppins Bold"/>
                <a:cs typeface="Poppins Bold"/>
                <a:sym typeface="Poppins Bold"/>
              </a:rPr>
              <a:t>ew: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Check th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e "Price Per Box" for </a:t>
            </a:r>
            <a:r>
              <a:rPr lang="en-US" sz="2599" i="true" u="sng">
                <a:solidFill>
                  <a:srgbClr val="7C381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White Choc.</a:t>
            </a:r>
            <a:r>
              <a:rPr lang="en-US" sz="2599">
                <a:solidFill>
                  <a:srgbClr val="7C381D"/>
                </a:solidFill>
                <a:latin typeface="Poppins"/>
                <a:ea typeface="Poppins"/>
                <a:cs typeface="Poppins"/>
                <a:sym typeface="Poppins"/>
              </a:rPr>
              <a:t> Since it sells in high volume, a small price increase (e.g., $0.50/box) could add significant pure profit without hurting demand.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1848619" y="5622251"/>
            <a:ext cx="4227884" cy="569934"/>
            <a:chOff x="0" y="0"/>
            <a:chExt cx="1113517" cy="1501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13517" cy="150106"/>
            </a:xfrm>
            <a:custGeom>
              <a:avLst/>
              <a:gdLst/>
              <a:ahLst/>
              <a:cxnLst/>
              <a:rect r="r" b="b" t="t" l="l"/>
              <a:pathLst>
                <a:path h="150106" w="1113517">
                  <a:moveTo>
                    <a:pt x="75053" y="0"/>
                  </a:moveTo>
                  <a:lnTo>
                    <a:pt x="1038464" y="0"/>
                  </a:lnTo>
                  <a:cubicBezTo>
                    <a:pt x="1079914" y="0"/>
                    <a:pt x="1113517" y="33602"/>
                    <a:pt x="1113517" y="75053"/>
                  </a:cubicBezTo>
                  <a:lnTo>
                    <a:pt x="1113517" y="75053"/>
                  </a:lnTo>
                  <a:cubicBezTo>
                    <a:pt x="1113517" y="116504"/>
                    <a:pt x="1079914" y="150106"/>
                    <a:pt x="1038464" y="150106"/>
                  </a:cubicBezTo>
                  <a:lnTo>
                    <a:pt x="75053" y="150106"/>
                  </a:lnTo>
                  <a:cubicBezTo>
                    <a:pt x="33602" y="150106"/>
                    <a:pt x="0" y="116504"/>
                    <a:pt x="0" y="75053"/>
                  </a:cubicBezTo>
                  <a:lnTo>
                    <a:pt x="0" y="75053"/>
                  </a:lnTo>
                  <a:cubicBezTo>
                    <a:pt x="0" y="33602"/>
                    <a:pt x="33602" y="0"/>
                    <a:pt x="75053" y="0"/>
                  </a:cubicBezTo>
                  <a:close/>
                </a:path>
              </a:pathLst>
            </a:custGeom>
            <a:solidFill>
              <a:srgbClr val="EFE2D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113517" cy="188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DAHBlhPe4OE</dc:identifier>
  <dcterms:modified xsi:type="dcterms:W3CDTF">2011-08-01T06:04:30Z</dcterms:modified>
  <cp:revision>1</cp:revision>
  <dc:title>Chocolate Sales Performance Analysis</dc:title>
</cp:coreProperties>
</file>